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and the team. Raquel: idea, healthcare insight, and plan research. James: engineering and deployment. Aurora Borealis: our cat, who provides healing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Who: patients in Puerto Rico who pay an out-of-network provider. The money is often there: every First Medical Directo plan pays back out-of-network visits, and even Triple-S's closed-network plans pay $20 a month toward acupuncture or massage. But the claim needs the right form, a letter, and seven details from the provider, before a deadline. So people pay the full cost or skip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chose the patient workflow. The patient answers two questions, gets a straight answer with the policy rule behind it, and leaves with a packet: a cover sheet with next steps and the deadline, the insurer's own form filled in, and a letter that cites the policy clause. If the visit has not happened yet, the app warns when the plan needs preauthorization.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on 18-212-154-202.sslip.io. Pick First Medical, Directo Silver 2027, specialist visit. Show the answer and the cheaper option. Click ¡Empecemos!, fill the visit details, and show the generated packet: cover sheet, filled form, policy letter. Finish on the prefilled email to the provider. If the network fails, use the backup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first: we turned each plan's reimbursement rules into TypeScript. Everything runs in the browser. pdf-lib fills Triple-S's form by field name and First Medical's flat scan by coordinates. A small EC2 instance with Caddy serves the static files. Limitations: two insurers so far, estimates are published averages, First Medical does not publish its fee schedule, and the patient still files the claim. Demo data is synthetic.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Rollout: first add the missing insurers, then more comprehensive plan comparisons, then the provider-facing flow. Future features: prescription refunds, an English toggle, and deadline reminders. Close with the live link and thank the judges.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27448"/>
            <a:ext cx="146304" cy="1463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Aura Curativa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r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384048" cy="3840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457200"/>
            <a:ext cx="4114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Aura Curativa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We help you answer one key question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8988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¿Me reembolsan?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29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Your plan's out-of-network refund, explained and filed for you. Built for patients in Puerto Rico.</a:t>
            </a:r>
            <a:endParaRPr lang="en-US" sz="1500" dirty="0"/>
          </a:p>
        </p:txBody>
      </p:sp>
      <p:sp>
        <p:nvSpPr>
          <p:cNvPr id="7" name="team-0"/>
          <p:cNvSpPr/>
          <p:nvPr/>
        </p:nvSpPr>
        <p:spPr>
          <a:xfrm>
            <a:off x="548640" y="2788920"/>
            <a:ext cx="4297680" cy="475488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282549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Raquel Maldonado Navarro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Idea, healthcare insight, plan research</a:t>
            </a:r>
            <a:endParaRPr lang="en-US" sz="1400" dirty="0"/>
          </a:p>
        </p:txBody>
      </p:sp>
      <p:sp>
        <p:nvSpPr>
          <p:cNvPr id="9" name="team-1"/>
          <p:cNvSpPr/>
          <p:nvPr/>
        </p:nvSpPr>
        <p:spPr>
          <a:xfrm>
            <a:off x="548640" y="3355848"/>
            <a:ext cx="4297680" cy="475488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" y="339242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James Dreben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Engineering, deployment</a:t>
            </a:r>
            <a:endParaRPr lang="en-US" sz="1400" dirty="0"/>
          </a:p>
        </p:txBody>
      </p:sp>
      <p:sp>
        <p:nvSpPr>
          <p:cNvPr id="11" name="team-2"/>
          <p:cNvSpPr/>
          <p:nvPr/>
        </p:nvSpPr>
        <p:spPr>
          <a:xfrm>
            <a:off x="548640" y="3922776"/>
            <a:ext cx="4297680" cy="475488"/>
          </a:xfrm>
          <a:prstGeom prst="roundRect">
            <a:avLst>
              <a:gd name="adj" fmla="val 19231"/>
            </a:avLst>
          </a:prstGeom>
          <a:solidFill>
            <a:schemeClr val="bg1"/>
          </a:solidFill>
          <a:ln w="9525">
            <a:solidFill>
              <a:srgbClr val="CCFBF1"/>
            </a:solidFill>
            <a:prstDash val="solid"/>
          </a:ln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13232" y="395935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Aurora Borealis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Cat · provides healing effects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</a:rPr>
              <a:t>Caribbean AI Summit Healthcare Hackathon · October 2026</a:t>
            </a:r>
            <a:endParaRPr lang="en-US" sz="1000" dirty="0"/>
          </a:p>
        </p:txBody>
      </p:sp>
      <p:pic>
        <p:nvPicPr>
          <p:cNvPr id="14" name="aurora-photo" descr="Aurora Borealis, the team 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526161"/>
            <a:ext cx="3566160" cy="290867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57800" y="4507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75569"/>
                </a:solidFill>
              </a:rPr>
              <a:t>Aurora Borealis, Chief Healing Officer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The refund is there. The paperwork stops people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Who needs help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Patients in Puerto Rico who see a provider outside their plan's network: acupuncture, therapy, massage, specialists with long waitlists.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Why it matters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Many patients don't know their plan pays them back. Others give up on the form, the letter, and the provider's signature. So they pay the full cost or skip care.</a:t>
            </a:r>
            <a:endParaRPr lang="en-US" sz="1400" dirty="0"/>
          </a:p>
        </p:txBody>
      </p:sp>
      <p:sp>
        <p:nvSpPr>
          <p:cNvPr id="5" name="stat-0"/>
          <p:cNvSpPr/>
          <p:nvPr/>
        </p:nvSpPr>
        <p:spPr>
          <a:xfrm>
            <a:off x="4389120" y="1371600"/>
            <a:ext cx="4297680" cy="877824"/>
          </a:xfrm>
          <a:prstGeom prst="roundRect">
            <a:avLst>
              <a:gd name="adj" fmla="val 12500"/>
            </a:avLst>
          </a:prstGeom>
          <a:solidFill>
            <a:srgbClr val="F0FD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53712" y="1371600"/>
            <a:ext cx="1600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 of 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371600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First Medical 2027 individual plans pay back out-of-network visits, at their top in-network rate minus copay</a:t>
            </a:r>
            <a:endParaRPr lang="en-US" sz="1100" dirty="0"/>
          </a:p>
        </p:txBody>
      </p:sp>
      <p:sp>
        <p:nvSpPr>
          <p:cNvPr id="8" name="stat-1"/>
          <p:cNvSpPr/>
          <p:nvPr/>
        </p:nvSpPr>
        <p:spPr>
          <a:xfrm>
            <a:off x="4389120" y="2395728"/>
            <a:ext cx="4297680" cy="877824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53712" y="2395728"/>
            <a:ext cx="1600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$240/yr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395728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Triple-S Contigo Fit for acupuncture, massage or reflexology, even on closed-network plans</a:t>
            </a:r>
            <a:endParaRPr lang="en-US" sz="1100" dirty="0"/>
          </a:p>
        </p:txBody>
      </p:sp>
      <p:sp>
        <p:nvSpPr>
          <p:cNvPr id="11" name="stat-2"/>
          <p:cNvSpPr/>
          <p:nvPr/>
        </p:nvSpPr>
        <p:spPr>
          <a:xfrm>
            <a:off x="4389120" y="3419856"/>
            <a:ext cx="4297680" cy="877824"/>
          </a:xfrm>
          <a:prstGeom prst="roundRect">
            <a:avLst>
              <a:gd name="adj" fmla="val 12500"/>
            </a:avLst>
          </a:prstGeom>
          <a:solidFill>
            <a:srgbClr val="F0FD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53712" y="3419856"/>
            <a:ext cx="16002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7 details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3419856"/>
            <a:ext cx="23774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claim needs from the provider, like NPI, diagnosis and CPT codes. First Medical gives 90 days to file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074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Sources: 2027 policies for 5 Triple-S and 4 First Medical individual plans. Contigo Fit: $20/month, up to 12 months, on 4 of 5 Triple-S plans.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PROPOSED SOLUTION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straight answer, and help filing the claim</a:t>
            </a:r>
            <a:endParaRPr lang="en-US" sz="2800" dirty="0"/>
          </a:p>
        </p:txBody>
      </p:sp>
      <p:sp>
        <p:nvSpPr>
          <p:cNvPr id="4" name="step-1"/>
          <p:cNvSpPr/>
          <p:nvPr/>
        </p:nvSpPr>
        <p:spPr>
          <a:xfrm>
            <a:off x="457200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CCFBF1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627632"/>
            <a:ext cx="420624" cy="420624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34E4A"/>
                </a:solidFill>
              </a:rPr>
              <a:t>Pick your plan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Insurer, then the exact 2027 plan</a:t>
            </a:r>
            <a:endParaRPr lang="en-US" sz="1100" dirty="0"/>
          </a:p>
        </p:txBody>
      </p:sp>
      <p:sp>
        <p:nvSpPr>
          <p:cNvPr id="9" name="step-2"/>
          <p:cNvSpPr/>
          <p:nvPr/>
        </p:nvSpPr>
        <p:spPr>
          <a:xfrm>
            <a:off x="1850746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1F5F3"/>
          </a:solidFill>
          <a:ln/>
        </p:spPr>
      </p:sp>
      <p:sp>
        <p:nvSpPr>
          <p:cNvPr id="10" name="Shape 8"/>
          <p:cNvSpPr/>
          <p:nvPr/>
        </p:nvSpPr>
        <p:spPr>
          <a:xfrm>
            <a:off x="1987906" y="1627632"/>
            <a:ext cx="420624" cy="420624"/>
          </a:xfrm>
          <a:prstGeom prst="ellipse">
            <a:avLst/>
          </a:prstGeom>
          <a:solidFill>
            <a:srgbClr val="256A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987906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87906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4560"/>
                </a:solidFill>
              </a:rPr>
              <a:t>Pick your service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987906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Acupuncture, specialist, glasses, therapy, more</a:t>
            </a:r>
            <a:endParaRPr lang="en-US" sz="1100" dirty="0"/>
          </a:p>
        </p:txBody>
      </p:sp>
      <p:sp>
        <p:nvSpPr>
          <p:cNvPr id="14" name="step-3"/>
          <p:cNvSpPr/>
          <p:nvPr/>
        </p:nvSpPr>
        <p:spPr>
          <a:xfrm>
            <a:off x="3244291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6EFF6"/>
          </a:solidFill>
          <a:ln/>
        </p:spPr>
      </p:sp>
      <p:sp>
        <p:nvSpPr>
          <p:cNvPr id="15" name="Shape 13"/>
          <p:cNvSpPr/>
          <p:nvPr/>
        </p:nvSpPr>
        <p:spPr>
          <a:xfrm>
            <a:off x="3381451" y="1627632"/>
            <a:ext cx="420624" cy="420624"/>
          </a:xfrm>
          <a:prstGeom prst="ellipse">
            <a:avLst/>
          </a:prstGeom>
          <a:solidFill>
            <a:srgbClr val="3B5EA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1451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381451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03C75"/>
                </a:solidFill>
              </a:rPr>
              <a:t>Get an answer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1451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Reimbursable? About how much back? Cheaper options</a:t>
            </a:r>
            <a:endParaRPr lang="en-US" sz="1100" dirty="0"/>
          </a:p>
        </p:txBody>
      </p:sp>
      <p:sp>
        <p:nvSpPr>
          <p:cNvPr id="19" name="step-4"/>
          <p:cNvSpPr/>
          <p:nvPr/>
        </p:nvSpPr>
        <p:spPr>
          <a:xfrm>
            <a:off x="4637837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AE8F8"/>
          </a:solidFill>
          <a:ln/>
        </p:spPr>
      </p:sp>
      <p:sp>
        <p:nvSpPr>
          <p:cNvPr id="20" name="Shape 18"/>
          <p:cNvSpPr/>
          <p:nvPr/>
        </p:nvSpPr>
        <p:spPr>
          <a:xfrm>
            <a:off x="4774997" y="1627632"/>
            <a:ext cx="420624" cy="420624"/>
          </a:xfrm>
          <a:prstGeom prst="ellipse">
            <a:avLst/>
          </a:prstGeom>
          <a:solidFill>
            <a:srgbClr val="5052B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74997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774997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338B"/>
                </a:solidFill>
              </a:rPr>
              <a:t>Generate the claim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774997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Cover sheet, filled form, policy letter</a:t>
            </a:r>
            <a:endParaRPr lang="en-US" sz="1100" dirty="0"/>
          </a:p>
        </p:txBody>
      </p:sp>
      <p:sp>
        <p:nvSpPr>
          <p:cNvPr id="24" name="step-5"/>
          <p:cNvSpPr/>
          <p:nvPr/>
        </p:nvSpPr>
        <p:spPr>
          <a:xfrm>
            <a:off x="6031382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DFE2FB"/>
          </a:solidFill>
          <a:ln/>
        </p:spPr>
      </p:sp>
      <p:sp>
        <p:nvSpPr>
          <p:cNvPr id="25" name="Shape 23"/>
          <p:cNvSpPr/>
          <p:nvPr/>
        </p:nvSpPr>
        <p:spPr>
          <a:xfrm>
            <a:off x="6168542" y="1627632"/>
            <a:ext cx="420624" cy="420624"/>
          </a:xfrm>
          <a:prstGeom prst="ellipse">
            <a:avLst/>
          </a:prstGeom>
          <a:solidFill>
            <a:srgbClr val="6646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68542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168542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D2AA0"/>
                </a:solidFill>
              </a:rPr>
              <a:t>Send to provider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68542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Print, or a prefilled email from your account</a:t>
            </a:r>
            <a:endParaRPr lang="en-US" sz="1100" dirty="0"/>
          </a:p>
        </p:txBody>
      </p:sp>
      <p:sp>
        <p:nvSpPr>
          <p:cNvPr id="29" name="step-6"/>
          <p:cNvSpPr/>
          <p:nvPr/>
        </p:nvSpPr>
        <p:spPr>
          <a:xfrm>
            <a:off x="7424928" y="1463040"/>
            <a:ext cx="1261872" cy="2240280"/>
          </a:xfrm>
          <a:prstGeom prst="roundRect">
            <a:avLst>
              <a:gd name="adj" fmla="val 8696"/>
            </a:avLst>
          </a:prstGeom>
          <a:solidFill>
            <a:srgbClr val="E4DCFD"/>
          </a:solidFill>
          <a:ln/>
        </p:spPr>
      </p:sp>
      <p:sp>
        <p:nvSpPr>
          <p:cNvPr id="30" name="Shape 28"/>
          <p:cNvSpPr/>
          <p:nvPr/>
        </p:nvSpPr>
        <p:spPr>
          <a:xfrm>
            <a:off x="7562088" y="1627632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62088" y="1627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562088" y="2176272"/>
            <a:ext cx="1033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21B6"/>
                </a:solidFill>
              </a:rPr>
              <a:t>File it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562088" y="2697480"/>
            <a:ext cx="1033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Mail or email to the insurer by the deadline</a:t>
            </a:r>
            <a:endParaRPr lang="en-US" sz="1100" dirty="0"/>
          </a:p>
        </p:txBody>
      </p:sp>
      <p:sp>
        <p:nvSpPr>
          <p:cNvPr id="34" name="promise"/>
          <p:cNvSpPr/>
          <p:nvPr/>
        </p:nvSpPr>
        <p:spPr>
          <a:xfrm>
            <a:off x="457200" y="3931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Before you pay, not after a denial.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Spanish-first. No account, no sign-up, nothing stored.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DEMO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From a question to a filled claim</a:t>
            </a:r>
            <a:endParaRPr lang="en-US" sz="2800" dirty="0"/>
          </a:p>
        </p:txBody>
      </p:sp>
      <p:pic>
        <p:nvPicPr>
          <p:cNvPr id="4" name="demo-1" descr="1. A straight answ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560320" cy="21488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45720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1. A straight answer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Yes or no, what the guidelines are, and your best alternative</a:t>
            </a:r>
            <a:endParaRPr lang="en-US" sz="1100" dirty="0"/>
          </a:p>
        </p:txBody>
      </p:sp>
      <p:pic>
        <p:nvPicPr>
          <p:cNvPr id="7" name="demo-2" descr="2. The insurer's own 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371600"/>
            <a:ext cx="2560320" cy="21488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329184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2. The insurer's own form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Filled field by field. The provider's section is the only part that stays blank</a:t>
            </a:r>
            <a:endParaRPr lang="en-US" sz="1100" dirty="0"/>
          </a:p>
        </p:txBody>
      </p:sp>
      <p:pic>
        <p:nvPicPr>
          <p:cNvPr id="10" name="demo-3" descr="3. Send it to the provi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2560320" cy="214884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172A">
                <a:alpha val="14000"/>
              </a:srgbClr>
            </a:outerShdw>
          </a:effectLst>
        </p:spPr>
      </p:pic>
      <p:sp>
        <p:nvSpPr>
          <p:cNvPr id="11" name="Text 6"/>
          <p:cNvSpPr txBox="1"/>
          <p:nvPr/>
        </p:nvSpPr>
        <p:spPr>
          <a:xfrm>
            <a:off x="6126480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3. Send it to the provider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6126480" y="39136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Prefilled email or easy-to-print packet, plus the next steps to file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4663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Live: 18-212-154-202.sslip.io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TECHNOLOGY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How it works, and its current limitations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371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Policy research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2027 policies, 9 plans, read with AI agents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12848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1396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Rules in code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Network type, rate basis, copays, deadlines, exclusions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980944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9077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 the browser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SvelteKit static site. No backend, no database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67588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PDF packet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pdf-lib fills the insurer's form and writes the letter</a:t>
            </a:r>
            <a:endParaRPr lang="en-US" sz="1400" dirty="0"/>
          </a:p>
        </p:txBody>
      </p:sp>
      <p:sp>
        <p:nvSpPr>
          <p:cNvPr id="16" name="col-mvp"/>
          <p:cNvSpPr/>
          <p:nvPr/>
        </p:nvSpPr>
        <p:spPr>
          <a:xfrm>
            <a:off x="4069080" y="1371600"/>
            <a:ext cx="2377440" cy="3017520"/>
          </a:xfrm>
          <a:prstGeom prst="roundRect">
            <a:avLst>
              <a:gd name="adj" fmla="val 4615"/>
            </a:avLst>
          </a:prstGeom>
          <a:solidFill>
            <a:srgbClr val="F0FD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233672" y="14813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MVP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78808" y="1874520"/>
            <a:ext cx="21488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Comprehensive analysis of Triple-S and First Medical's 2027 individual plans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Official insurance forms, filled out automatically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Prewritten letter with a detailed explanation justifying reimbursement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Claim data never leaves the device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Runs locally, and is public, free and open source</a:t>
            </a:r>
            <a:endParaRPr lang="en-US" sz="1100" dirty="0"/>
          </a:p>
        </p:txBody>
      </p:sp>
      <p:sp>
        <p:nvSpPr>
          <p:cNvPr id="19" name="col-limits"/>
          <p:cNvSpPr/>
          <p:nvPr/>
        </p:nvSpPr>
        <p:spPr>
          <a:xfrm>
            <a:off x="6583680" y="1371600"/>
            <a:ext cx="2103120" cy="3017520"/>
          </a:xfrm>
          <a:prstGeom prst="roundRect">
            <a:avLst>
              <a:gd name="adj" fmla="val 5217"/>
            </a:avLst>
          </a:prstGeom>
          <a:solidFill>
            <a:srgbClr val="EDE9F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48272" y="14813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Current limitations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93408" y="1874520"/>
            <a:ext cx="1874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Two insurers so far, individual plans only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Dollar amounts are published averages, not a coverage decision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First Medical doesn't publish its rates, so no dollar figure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The patient still mails or emails the claim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 provider-side flow yet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3035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Rollout plan and future features</a:t>
            </a:r>
            <a:endParaRPr lang="en-US" sz="2800" dirty="0"/>
          </a:p>
        </p:txBody>
      </p:sp>
      <p:sp>
        <p:nvSpPr>
          <p:cNvPr id="4" name="phase-1"/>
          <p:cNvSpPr/>
          <p:nvPr/>
        </p:nvSpPr>
        <p:spPr>
          <a:xfrm>
            <a:off x="457200" y="1371600"/>
            <a:ext cx="2596896" cy="173736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PHASE 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55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More insurers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762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MCS, Plan de Salud Menonita, and the rest of the Puerto Rico market.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54096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phase-2"/>
          <p:cNvSpPr/>
          <p:nvPr/>
        </p:nvSpPr>
        <p:spPr>
          <a:xfrm>
            <a:off x="3273552" y="1371600"/>
            <a:ext cx="2596896" cy="173736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56432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PHASE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56432" y="1755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Plan comparisons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56432" y="21762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More comprehensive side-by-side comparisons of plans, benefits and out-of-network coverage.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870448" y="20116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phase-3"/>
          <p:cNvSpPr/>
          <p:nvPr/>
        </p:nvSpPr>
        <p:spPr>
          <a:xfrm>
            <a:off x="6089904" y="1371600"/>
            <a:ext cx="2596896" cy="173736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72784" y="15087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PHASE 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272784" y="1755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Provider flow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72784" y="217627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Provider prints the filled form with the receipt, or gives the patient a QR code.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10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Future features</a:t>
            </a:r>
            <a:endParaRPr lang="en-US" sz="1500" dirty="0"/>
          </a:p>
        </p:txBody>
      </p:sp>
      <p:sp>
        <p:nvSpPr>
          <p:cNvPr id="19" name="feature-1"/>
          <p:cNvSpPr/>
          <p:nvPr/>
        </p:nvSpPr>
        <p:spPr>
          <a:xfrm>
            <a:off x="457200" y="36758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Prescription refunds</a:t>
            </a:r>
            <a:endParaRPr lang="en-US" sz="1100" dirty="0"/>
          </a:p>
        </p:txBody>
      </p:sp>
      <p:sp>
        <p:nvSpPr>
          <p:cNvPr id="21" name="feature-2"/>
          <p:cNvSpPr/>
          <p:nvPr/>
        </p:nvSpPr>
        <p:spPr>
          <a:xfrm>
            <a:off x="2514600" y="36758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1460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English UI toggle</a:t>
            </a:r>
            <a:endParaRPr lang="en-US" sz="1100" dirty="0"/>
          </a:p>
        </p:txBody>
      </p:sp>
      <p:sp>
        <p:nvSpPr>
          <p:cNvPr id="23" name="feature-3"/>
          <p:cNvSpPr/>
          <p:nvPr/>
        </p:nvSpPr>
        <p:spPr>
          <a:xfrm>
            <a:off x="4572000" y="367588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0" y="36758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Deadline reminders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160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Try it: </a:t>
            </a:r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18-212-154-202.sslip.io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</a:rPr>
              <a:t>github.com/jdreben/healing-aura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ra Curativa">
  <a:themeElements>
    <a:clrScheme name="Aura Curativa">
      <a:dk1>
        <a:srgbClr val="1E293B"/>
      </a:dk1>
      <a:lt1>
        <a:srgbClr val="FFFFFF"/>
      </a:lt1>
      <a:dk2>
        <a:srgbClr val="134E4A"/>
      </a:dk2>
      <a:lt2>
        <a:srgbClr val="F0FDFA"/>
      </a:lt2>
      <a:accent1>
        <a:srgbClr val="0F766E"/>
      </a:accent1>
      <a:accent2>
        <a:srgbClr val="7C3AED"/>
      </a:accent2>
      <a:accent3>
        <a:srgbClr val="2DD4BF"/>
      </a:accent3>
      <a:accent4>
        <a:srgbClr val="A78BFA"/>
      </a:accent4>
      <a:accent5>
        <a:srgbClr val="CCFBF1"/>
      </a:accent5>
      <a:accent6>
        <a:srgbClr val="EDE9FE"/>
      </a:accent6>
      <a:hlink>
        <a:srgbClr val="0F766E"/>
      </a:hlink>
      <a:folHlink>
        <a:srgbClr val="7C3AED"/>
      </a:folHlink>
    </a:clrScheme>
    <a:fontScheme name="Aura Curativ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Curativa</dc:title>
  <dc:subject>PptxGenJS Presentation</dc:subject>
  <dc:creator>Raquel Maldonado Navarro, James Dreben</dc:creator>
  <cp:lastModifiedBy>Raquel Maldonado Navarro, James Dreben</cp:lastModifiedBy>
  <cp:revision>1</cp:revision>
  <dcterms:created xsi:type="dcterms:W3CDTF">2026-10-10T04:35:50Z</dcterms:created>
  <dcterms:modified xsi:type="dcterms:W3CDTF">2026-10-10T04:35:50Z</dcterms:modified>
</cp:coreProperties>
</file>